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yCfJ/XuiEYv9ddd2IPEbVukI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~45 seconds</a:t>
            </a:r>
            <a:br>
              <a:rPr lang="en-US"/>
            </a:br>
            <a:br>
              <a:rPr lang="en-US"/>
            </a:br>
            <a:r>
              <a:rPr lang="en-US"/>
              <a:t>- This project is a short, interactive exploration of suicide mortality using CDC WONDER mortality data.</a:t>
            </a:r>
            <a:br>
              <a:rPr lang="en-US"/>
            </a:br>
            <a:r>
              <a:rPr lang="en-US"/>
              <a:t>- The Shiny app lets you change state, years, sex, and race to see how patterns shift.</a:t>
            </a:r>
            <a:br>
              <a:rPr lang="en-US"/>
            </a:br>
            <a:r>
              <a:rPr lang="en-US"/>
              <a:t>- I’ll focus on the key visuals, the statistical tests, and what they imply for public health planning.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~50 seconds</a:t>
            </a:r>
            <a:br>
              <a:rPr lang="en-US"/>
            </a:br>
            <a:br>
              <a:rPr lang="en-US"/>
            </a:br>
            <a:r>
              <a:rPr lang="en-US"/>
              <a:t>- The goal is descriptive: quantify patterns and compare across place and demographics.</a:t>
            </a:r>
            <a:br>
              <a:rPr lang="en-US"/>
            </a:br>
            <a:r>
              <a:rPr lang="en-US"/>
              <a:t>- The app is designed so a user can answer these three questions interactively in a few clicks.</a:t>
            </a:r>
            <a:br>
              <a:rPr lang="en-US"/>
            </a:br>
            <a:r>
              <a:rPr lang="en-US"/>
              <a:t>- Next I’ll briefly describe what’s behind the app: the data, the interactive EDA, and the three statistical tests.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~60 seconds</a:t>
            </a:r>
            <a:br>
              <a:rPr lang="en-US"/>
            </a:br>
            <a:br>
              <a:rPr lang="en-US"/>
            </a:br>
            <a:r>
              <a:rPr lang="en-US"/>
              <a:t>- The export is detailed, including cause codes, so I collapse cause-code rows before computing totals.</a:t>
            </a:r>
            <a:br>
              <a:rPr lang="en-US"/>
            </a:br>
            <a:r>
              <a:rPr lang="en-US"/>
              <a:t>- Exploratory analysis happens through interactive tabs: trends, rankings, and slopes.</a:t>
            </a:r>
            <a:br>
              <a:rPr lang="en-US"/>
            </a:br>
            <a:r>
              <a:rPr lang="en-US"/>
              <a:t>- For statistics, I use Poisson regression with a population offset, a nonparametric correlation, and a first-vs-last year comparison.</a:t>
            </a:r>
            <a:br>
              <a:rPr lang="en-US"/>
            </a:br>
            <a:r>
              <a:rPr lang="en-US"/>
              <a:t>- The app includes a small-count filter (deaths &lt; 20) to reduce unstable estimates.</a:t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~60 seconds</a:t>
            </a:r>
            <a:br>
              <a:rPr lang="en-US"/>
            </a:br>
            <a:br>
              <a:rPr lang="en-US"/>
            </a:br>
            <a:r>
              <a:rPr lang="en-US"/>
              <a:t>- National context: crude rate increases from ~10.2 per 100k in 1999 to ~13.4 per 100k in 2020, peaking around 2018.</a:t>
            </a:r>
            <a:br>
              <a:rPr lang="en-US"/>
            </a:br>
            <a:r>
              <a:rPr lang="en-US"/>
              <a:t>- The app turns this into an interactive drill-down: select any state and demographic slice to see how patterns differ.</a:t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~70 seconds</a:t>
            </a:r>
            <a:br>
              <a:rPr lang="en-US"/>
            </a:br>
            <a:br>
              <a:rPr lang="en-US"/>
            </a:br>
            <a:r>
              <a:rPr lang="en-US"/>
              <a:t>- The ranking view answers: where are rates highest in a given year?</a:t>
            </a:r>
            <a:br>
              <a:rPr lang="en-US"/>
            </a:br>
            <a:r>
              <a:rPr lang="en-US"/>
              <a:t>- The slope view answers: where are rates increasing fastest over the period?</a:t>
            </a:r>
            <a:br>
              <a:rPr lang="en-US"/>
            </a:br>
            <a:r>
              <a:rPr lang="en-US"/>
              <a:t>- Small-population states can look extreme; treat these as flags for deeper investigation, not the whole story.</a:t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~70 seconds</a:t>
            </a:r>
            <a:br>
              <a:rPr lang="en-US"/>
            </a:br>
            <a:br>
              <a:rPr lang="en-US"/>
            </a:br>
            <a:r>
              <a:rPr lang="en-US"/>
              <a:t>- Pennsylvania is a concrete example of what the test tab provides.</a:t>
            </a:r>
            <a:br>
              <a:rPr lang="en-US"/>
            </a:br>
            <a:r>
              <a:rPr lang="en-US"/>
              <a:t>- Over the full period the model estimates ~2% growth per year (IRR ~1.02), but the visual shows a peak around 2016 and a decline afterward.</a:t>
            </a:r>
            <a:br>
              <a:rPr lang="en-US"/>
            </a:br>
            <a:r>
              <a:rPr lang="en-US"/>
              <a:t>- Takeaway: pair tests with visuals, and interpret trends in context rather than assuming constant growth.</a:t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Timing: ~45–60 seconds</a:t>
            </a:r>
            <a:br>
              <a:rPr lang="en-US"/>
            </a:br>
            <a:br>
              <a:rPr lang="en-US"/>
            </a:br>
            <a:r>
              <a:rPr lang="en-US"/>
              <a:t>- Summarize the takeaways: national increase, geographic variation, and fastest-increasing states.</a:t>
            </a:r>
            <a:br>
              <a:rPr lang="en-US"/>
            </a:br>
            <a:r>
              <a:rPr lang="en-US"/>
              <a:t>- Emphasize the deliverable: an interactive dashboard that makes comparisons transparent and reproducible.</a:t>
            </a:r>
            <a:br>
              <a:rPr lang="en-US"/>
            </a:br>
            <a:r>
              <a:rPr lang="en-US"/>
              <a:t>- Close with limitations + future work, and a policy framing: where to prioritize monitoring and prevention planning.</a:t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Suicide Mortality Trends in the U.S.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1" y="1115605"/>
            <a:ext cx="1097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Interactive Shiny dashboard | 1999–2020 | CDC WONDER mortality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18060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 link: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2080195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AA6"/>
              </a:buClr>
              <a:buSzPts val="1400"/>
              <a:buFont typeface="Arial"/>
              <a:buNone/>
            </a:pPr>
            <a:r>
              <a:rPr b="0" i="0" lang="en-US" sz="2100" u="sng" cap="none" strike="noStrike">
                <a:solidFill>
                  <a:srgbClr val="1F5AA6"/>
                </a:solidFill>
                <a:latin typeface="Arial"/>
                <a:ea typeface="Arial"/>
                <a:cs typeface="Arial"/>
                <a:sym typeface="Arial"/>
              </a:rPr>
              <a:t>https://atorbati.shinyapps.io/Suicide_Research_Spring_2026/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res_assets/qr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0853" y="1783072"/>
            <a:ext cx="3353475" cy="33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9021740" y="5136545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2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Scan to open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278892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Presenter: </a:t>
            </a:r>
            <a:r>
              <a:rPr lang="en-US" sz="2400">
                <a:solidFill>
                  <a:srgbClr val="444444"/>
                </a:solidFill>
              </a:rPr>
              <a:t>Abigail Torbatian</a:t>
            </a:r>
            <a:r>
              <a:rPr b="0" i="0" lang="en-US" sz="24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| Spring 2026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CDC WONDER (NVSS mortality data). Rates shown are crude deaths per 100,000.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55345" y="656250"/>
            <a:ext cx="1097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Before I Begin…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609595" y="147919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If you are struggling or have a hard time with this topic, you are welcome to step out.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655350" y="1982100"/>
            <a:ext cx="10881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Please do not feel pressured to listen to my presentation.</a:t>
            </a:r>
            <a:endParaRPr sz="12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If you need help, reach out to CaPS:</a:t>
            </a:r>
            <a:endParaRPr sz="12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Call (412-268-2922) or visit:</a:t>
            </a:r>
            <a:endParaRPr sz="12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Highmark Center for Health, Wellness, &amp; Athletics</a:t>
            </a:r>
            <a:endParaRPr sz="12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100 Tech St., 4th Floor</a:t>
            </a:r>
            <a:endParaRPr sz="12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Across from Margaret Morrison Carnegie Hall and Posner Hall</a:t>
            </a:r>
            <a:endParaRPr sz="1200"/>
          </a:p>
        </p:txBody>
      </p:sp>
      <p:sp>
        <p:nvSpPr>
          <p:cNvPr id="33" name="Google Shape;33;p2"/>
          <p:cNvSpPr txBox="1"/>
          <p:nvPr/>
        </p:nvSpPr>
        <p:spPr>
          <a:xfrm>
            <a:off x="731525" y="5432253"/>
            <a:ext cx="1097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U.S. Suicide &amp; Crisis Lifeline: call or text 988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&amp; research questions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31520" y="1600200"/>
            <a:ext cx="65836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Describe how suicide mortality rates changed over time and how they differ by state, sex, and race.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Research questions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RQ1: How do rates change over time?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RQ2: Which states are highest and which are increasing fastest?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RQ3: How do rates differ by sex and race?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680960" y="1691640"/>
            <a:ext cx="4206240" cy="22860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909560" y="187452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800" u="sng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i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Identify hotspots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Track growth over time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Support prevention planning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CDC WONDER mortality data export (ICD-10 intentional self-harm codes).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(EDA + statistical analysis)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31520" y="1508760"/>
            <a:ext cx="56692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Data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CDC WONDER mortality data (NVSS)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Years: 1999–2020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Export: state × year × sex × race × cause code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EDA (in the app)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Filter by state / years / sex / race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Trend plot (time series)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State ranking (single year)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Fastest-increasing states (slope over time)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Statistical analysis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Poisson regression trend (offset = log(population))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Spearman correlation (year vs rate)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Rate ratio test (first year vs last year)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Reliability rule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Option to exclude estimates with deaths &lt; 20 (unstable rates)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Note: Cause-code rows are collapsed before computing totals; population counted once per group.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4" title="Screenshot 2026-02-25 at 8.03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925" y="1893993"/>
            <a:ext cx="5486403" cy="307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visualization 1: Trend explorer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res_assets/national_trend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965960"/>
            <a:ext cx="73152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731520" y="1508760"/>
            <a:ext cx="7315200" cy="4937760"/>
          </a:xfrm>
          <a:prstGeom prst="rect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321040" y="1508760"/>
            <a:ext cx="3566160" cy="49377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503920" y="1691640"/>
            <a:ext cx="32004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2300">
                <a:solidFill>
                  <a:srgbClr val="222222"/>
                </a:solidFill>
              </a:rPr>
              <a:t>U.S. crude rate rose overall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i="1"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1999: 10.19 per 100k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i="1"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2020: 13.40 per 100k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Peak in 2018: 14.12 per 100k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2300">
                <a:solidFill>
                  <a:srgbClr val="222222"/>
                </a:solidFill>
              </a:rPr>
              <a:t>In the app, you can: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i="1"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Switch states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i="1"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Narrow the year window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i="1" lang="en-US" sz="2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Filter by sex and race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Trend shown is national aggregate of state-year totals (crude rate).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visualization 2: Compare states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res_assets/top10_states_2020.png"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322576"/>
            <a:ext cx="566928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731520" y="1645920"/>
            <a:ext cx="5669280" cy="4754880"/>
          </a:xfrm>
          <a:prstGeom prst="rect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res_assets/top10_slopes.png"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2418588"/>
            <a:ext cx="5349240" cy="320954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6583680" y="1645920"/>
            <a:ext cx="5349240" cy="4754880"/>
          </a:xfrm>
          <a:prstGeom prst="rect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31525" y="1097274"/>
            <a:ext cx="5669400" cy="62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68680" y="1316736"/>
            <a:ext cx="5440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333333"/>
                </a:solidFill>
              </a:rPr>
              <a:t>Highest rates (2020): Wyoming (48.5), South Dakota (27.2), Vermont (26.2), Alaska (24.9), Montana (22.7)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583680" y="1261872"/>
            <a:ext cx="5349240" cy="3474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720840" y="1316736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</a:rPr>
              <a:t>Fastest increases: Wyoming (+0.73/yr), Vermont (+0.65/yr), North Dakota (+0.60/yr), Alaska (+0.49/yr), South Dakota (+0.44/yr)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Left: top states by crude rate in 2020. Right: slope of crude rate vs year (1999–2020).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visualization 3: Differences by sex and race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731520" y="1508760"/>
            <a:ext cx="6949440" cy="4937760"/>
          </a:xfrm>
          <a:prstGeom prst="rect">
            <a:avLst/>
          </a:prstGeom>
          <a:noFill/>
          <a:ln cap="flat" cmpd="sng" w="12700">
            <a:solidFill>
              <a:srgbClr val="DDDDD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q3_sex_race_2020.png"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66544"/>
            <a:ext cx="6949440" cy="382219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8092440" y="1691640"/>
            <a:ext cx="36576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2020 national crude rates by sex &amp; race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Male rates are higher than female rates across every race category.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Highest observed rates: American Indian/Alaska Native male (25.2/100k) and White male (24.2/100k).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Lowest observed rate: Black female (1.33/100k).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Interpret cautiously: crude rates are not age-adjusted; smaller groups can be more variable.</a:t>
            </a:r>
            <a:endParaRPr sz="1900">
              <a:solidFill>
                <a:srgbClr val="222222"/>
              </a:solidFill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U.S. aggregate from state-year totals (CDC WONDER ICD-10 X60–X84). Values are crude rates (deaths/population × 100,000).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analysis (example: Pennsylvania)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res_assets/pa_trend.png"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66544"/>
            <a:ext cx="6949440" cy="3822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731520" y="1508760"/>
            <a:ext cx="6949440" cy="4937760"/>
          </a:xfrm>
          <a:prstGeom prst="rect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7909550" y="1508750"/>
            <a:ext cx="4023300" cy="50430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8092450" y="1646450"/>
            <a:ext cx="36576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222222"/>
                </a:solidFill>
              </a:rPr>
              <a:t>Trend summary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1999: 10.15 per 100k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2020: 12.50 per 100k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Peak: 2016 (15.90)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222222"/>
                </a:solidFill>
              </a:rPr>
              <a:t>Test 1 — Poisson trend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IRR/year = 1.0197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95% CI: [1.0180, 1.0215]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 &lt; 0.001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222222"/>
                </a:solidFill>
              </a:rPr>
              <a:t>Test 2 — Spearman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rho = 0.887 (p &lt; 0.001)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222222"/>
                </a:solidFill>
              </a:rPr>
              <a:t>Test 3 — Rate ratio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2020/1999 RR = 1.231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95% CI: [1.141, 1.329]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 &lt; 0.001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 state is Pennsylvania; the app recomputes these tests for any state/filters.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31520" y="1600200"/>
            <a:ext cx="5669280" cy="44805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960120" y="1783080"/>
            <a:ext cx="5212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crude rate increased (10.2 → 13.4 per 100k).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 highest-rate states include Wyoming, South Dakota, Vermont.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Fastest increases include Wyoming, Vermont, North Dakota.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Disparities: male rates exceed female across races; 2020 AIAN male 25.2/100k vs Black female 1.33/100k.</a:t>
            </a:r>
            <a:endParaRPr sz="2200"/>
          </a:p>
        </p:txBody>
      </p:sp>
      <p:sp>
        <p:nvSpPr>
          <p:cNvPr id="113" name="Google Shape;113;p9"/>
          <p:cNvSpPr/>
          <p:nvPr/>
        </p:nvSpPr>
        <p:spPr>
          <a:xfrm>
            <a:off x="6629400" y="160020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858000" y="1783080"/>
            <a:ext cx="48463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Limitations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Crude rates (not age-adjusted).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Ecological; not causal.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Small counts can be unstable.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Next steps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Add age-adjusted rates / age groups.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Add method of suicide and covariates.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Explore changepoints / non-linear trends.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</a:rPr>
              <a:t>Policy relevance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Prioritize monitoring and prevention where rates are highest or rising fastest.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48640" y="66111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or someone you know is struggling, call or text 988 (U.S. Suicide &amp; Crisis Lifeline).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A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2026-02-26T01:05:09Z</dcterms:created>
  <dc:creator>PptxGenJS</dc:creator>
</cp:coreProperties>
</file>